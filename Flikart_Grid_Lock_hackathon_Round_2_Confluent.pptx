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7" r:id="rId4"/>
    <p:sldId id="266" r:id="rId5"/>
    <p:sldId id="271" r:id="rId6"/>
    <p:sldId id="272" r:id="rId7"/>
    <p:sldId id="267" r:id="rId8"/>
    <p:sldId id="268" r:id="rId9"/>
    <p:sldId id="269" r:id="rId10"/>
    <p:sldId id="270" r:id="rId11"/>
    <p:sldId id="27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03"/>
    <p:restoredTop sz="94665"/>
  </p:normalViewPr>
  <p:slideViewPr>
    <p:cSldViewPr snapToGrid="0" snapToObjects="1">
      <p:cViewPr varScale="1">
        <p:scale>
          <a:sx n="107" d="100"/>
          <a:sy n="107" d="100"/>
        </p:scale>
        <p:origin x="68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b01022006.github.io/ai-parking-congestion-intelligence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rive.google.com/file/d/1BrF4HMsvkTWnxRqcdl6Lb8lGopAEfH8V/view" TargetMode="External"/><Relationship Id="rId5" Type="http://schemas.openxmlformats.org/officeDocument/2006/relationships/hyperlink" Target="https://github.com/sb01022006/ai-parking-congestion-intelligence" TargetMode="External"/><Relationship Id="rId4" Type="http://schemas.openxmlformats.org/officeDocument/2006/relationships/hyperlink" Target="https://ai-parking-congestion-intelligence.onrender.com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DC9745-C603-0B4D-ABCC-9B1815AC3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86593" cy="69112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F69945-0548-E746-945A-4823B2FC5C6C}"/>
              </a:ext>
            </a:extLst>
          </p:cNvPr>
          <p:cNvSpPr txBox="1"/>
          <p:nvPr/>
        </p:nvSpPr>
        <p:spPr>
          <a:xfrm>
            <a:off x="1324303" y="4136872"/>
            <a:ext cx="10362895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E11D48"/>
                </a:solidFill>
                <a:latin typeface="Arial"/>
              </a:defRPr>
            </a:pPr>
            <a:r>
              <a:rPr sz="3500" dirty="0"/>
              <a:t>Flipkart Gridlock Hackathon 2.0 | Round 2 Submission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EBAA5A-A9E5-5648-A0FC-CFD955C86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614" y="1383860"/>
            <a:ext cx="8437010" cy="25286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4082CD-9FF8-844E-AE54-1F0D8C0C6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12"/>
            <a:ext cx="12286593" cy="69112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27207F-878D-C345-B639-319B33F80118}"/>
              </a:ext>
            </a:extLst>
          </p:cNvPr>
          <p:cNvSpPr txBox="1"/>
          <p:nvPr/>
        </p:nvSpPr>
        <p:spPr>
          <a:xfrm>
            <a:off x="983355" y="740980"/>
            <a:ext cx="1721497" cy="3385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 u="sng">
                <a:solidFill>
                  <a:srgbClr val="0F172A"/>
                </a:solidFill>
                <a:latin typeface="Arial"/>
              </a:defRPr>
            </a:pPr>
            <a:r>
              <a:rPr sz="2200" dirty="0">
                <a:solidFill>
                  <a:srgbClr val="FF0000"/>
                </a:solidFill>
              </a:rPr>
              <a:t>Team Details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6DDFD23-2DEA-164E-BCF2-63A2DAC5E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064112"/>
              </p:ext>
            </p:extLst>
          </p:nvPr>
        </p:nvGraphicFramePr>
        <p:xfrm>
          <a:off x="2079296" y="1592283"/>
          <a:ext cx="81280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5330720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222055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Team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Confluent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542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Hackathon Theme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Poor Visibility on Parking-Induced Congestion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012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Date of Submission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21/06/2026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72835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1228BD4-E5AC-144E-94A1-73218D6DE2A5}"/>
              </a:ext>
            </a:extLst>
          </p:cNvPr>
          <p:cNvSpPr txBox="1"/>
          <p:nvPr/>
        </p:nvSpPr>
        <p:spPr>
          <a:xfrm>
            <a:off x="914400" y="3291840"/>
            <a:ext cx="2048510" cy="3385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 u="sng">
                <a:solidFill>
                  <a:srgbClr val="0F172A"/>
                </a:solidFill>
                <a:latin typeface="Arial"/>
              </a:defRPr>
            </a:pPr>
            <a:r>
              <a:rPr dirty="0">
                <a:solidFill>
                  <a:srgbClr val="FF0000"/>
                </a:solidFill>
              </a:rPr>
              <a:t>Team members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6A3FF25-2D2E-AB4F-A04F-7D12F0092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345140"/>
              </p:ext>
            </p:extLst>
          </p:nvPr>
        </p:nvGraphicFramePr>
        <p:xfrm>
          <a:off x="2079297" y="3990234"/>
          <a:ext cx="8127999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62020453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1381095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16416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College / University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Batch(passing Year)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45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err="1"/>
                        <a:t>Syamantak</a:t>
                      </a:r>
                      <a:r>
                        <a:rPr lang="en-US" sz="1500" dirty="0"/>
                        <a:t> Banerjee (Team Leader)</a:t>
                      </a:r>
                    </a:p>
                    <a:p>
                      <a:pPr algn="ctr"/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National Institute of Technology Durgapur</a:t>
                      </a:r>
                    </a:p>
                    <a:p>
                      <a:pPr algn="ctr"/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2027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757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err="1"/>
                        <a:t>Sneha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Saha</a:t>
                      </a:r>
                      <a:endParaRPr lang="en-US" sz="1500" dirty="0"/>
                    </a:p>
                    <a:p>
                      <a:pPr algn="ctr"/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National Institute of Technology Durgapur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2027</a:t>
                      </a:r>
                    </a:p>
                    <a:p>
                      <a:pPr algn="ctr"/>
                      <a:endParaRPr 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543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0701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A42C098-EAAE-EB43-953A-7E6C49B56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86593" cy="69112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EDEF7D-EB50-3F44-B1BF-97387FC6B236}"/>
              </a:ext>
            </a:extLst>
          </p:cNvPr>
          <p:cNvSpPr txBox="1"/>
          <p:nvPr/>
        </p:nvSpPr>
        <p:spPr>
          <a:xfrm>
            <a:off x="731520" y="583238"/>
            <a:ext cx="1069848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rPr lang="en-US" u="sng" dirty="0" err="1">
                <a:solidFill>
                  <a:srgbClr val="FF0000"/>
                </a:solidFill>
              </a:rPr>
              <a:t>VeloCity</a:t>
            </a:r>
            <a:r>
              <a:rPr lang="en-US" u="sng" dirty="0">
                <a:solidFill>
                  <a:srgbClr val="FF0000"/>
                </a:solidFill>
              </a:rPr>
              <a:t> (AI-Driven Parking Congestion Intelligence &amp; Dynamic Dispatch Engine) </a:t>
            </a:r>
            <a:r>
              <a:rPr u="sng" dirty="0">
                <a:solidFill>
                  <a:srgbClr val="FF0000"/>
                </a:solidFill>
              </a:rPr>
              <a:t>: Product Overview &amp; Core Features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0F235F-72C2-A841-B4EA-6F41F9E586D8}"/>
              </a:ext>
            </a:extLst>
          </p:cNvPr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63641-7DC0-3743-87C7-B806CB7E3A52}"/>
              </a:ext>
            </a:extLst>
          </p:cNvPr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CD5148-D21D-394E-BA04-483703BE3A88}"/>
              </a:ext>
            </a:extLst>
          </p:cNvPr>
          <p:cNvSpPr txBox="1"/>
          <p:nvPr/>
        </p:nvSpPr>
        <p:spPr>
          <a:xfrm>
            <a:off x="1005840" y="1920240"/>
            <a:ext cx="4572000" cy="27443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874F0"/>
                </a:solidFill>
                <a:latin typeface="Arial"/>
              </a:defRPr>
            </a:pPr>
            <a:r>
              <a:rPr sz="1600" dirty="0"/>
              <a:t>What Is </a:t>
            </a:r>
            <a:r>
              <a:rPr sz="1600" dirty="0" err="1"/>
              <a:t>VeloCity</a:t>
            </a:r>
            <a:r>
              <a:rPr sz="1600" dirty="0"/>
              <a:t>?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VeloCity</a:t>
            </a:r>
            <a:r>
              <a:rPr sz="1600" dirty="0"/>
              <a:t> is an AI-driven, real-time spatial analytics dashboard built to resolve urban traffic choke points caused by illegal parking.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It processes historical and real-time records to calculate localized traffic obstructiveness scores.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The system replaces legacy, scheduled paper routing with an active, automated officer dispatch pipeline.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Provides municipal dispatchers and traffic controllers with clear visualization tools to maintain corridor flow.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6BE09B-FBBC-BC46-B7DC-EDE0CC3AE7DA}"/>
              </a:ext>
            </a:extLst>
          </p:cNvPr>
          <p:cNvSpPr txBox="1"/>
          <p:nvPr/>
        </p:nvSpPr>
        <p:spPr>
          <a:xfrm>
            <a:off x="6583680" y="1920240"/>
            <a:ext cx="4572000" cy="34830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11D48"/>
                </a:solidFill>
                <a:latin typeface="Arial"/>
              </a:defRPr>
            </a:pPr>
            <a:r>
              <a:rPr sz="1600" dirty="0"/>
              <a:t>Feature Breakdown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u="sng" dirty="0"/>
              <a:t>Spatial Hotspot Ingestion: </a:t>
            </a:r>
            <a:r>
              <a:rPr sz="1600" dirty="0"/>
              <a:t>Visualizes 298,450 violation records clustered into high-density ~110m map grids.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u="sng" dirty="0"/>
              <a:t>Dynamic Congestion Simulator: </a:t>
            </a:r>
            <a:r>
              <a:rPr sz="1600" dirty="0"/>
              <a:t>Recalculates grid obstructiveness scores on the fly based on vehicle weight and severity sliders.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b="1" u="sng" dirty="0"/>
              <a:t>• AI Patrol Route Pathfinder: </a:t>
            </a:r>
            <a:r>
              <a:rPr sz="1600" dirty="0"/>
              <a:t>Generates optimized nearest-neighbor officer routing paths on the map in &lt;1ms.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u="sng" dirty="0"/>
              <a:t>Predictive Temporal Forecaster: </a:t>
            </a:r>
            <a:r>
              <a:rPr sz="1600" dirty="0"/>
              <a:t>Models expectation risk curves across days and hours to enable forward resource staging.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42A6E1-E8D0-794C-985A-86CBF620B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86593" cy="69112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05E22B-2108-4241-9EB6-DEBF10DD6DCE}"/>
              </a:ext>
            </a:extLst>
          </p:cNvPr>
          <p:cNvSpPr txBox="1"/>
          <p:nvPr/>
        </p:nvSpPr>
        <p:spPr>
          <a:xfrm>
            <a:off x="731520" y="73152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rPr u="sng" dirty="0">
                <a:solidFill>
                  <a:srgbClr val="FF0000"/>
                </a:solidFill>
              </a:rPr>
              <a:t>Problem Statement</a:t>
            </a:r>
            <a:r>
              <a:rPr lang="en-US" u="sng" dirty="0">
                <a:solidFill>
                  <a:srgbClr val="FF0000"/>
                </a:solidFill>
              </a:rPr>
              <a:t> &amp; Theme Alignment </a:t>
            </a:r>
            <a:endParaRPr u="sng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73D50D-960D-2C43-B0B4-8A926A182607}"/>
              </a:ext>
            </a:extLst>
          </p:cNvPr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26C81B-37D1-F94D-9116-84DD8B0BC6D5}"/>
              </a:ext>
            </a:extLst>
          </p:cNvPr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3F5267-84A7-0B4A-A945-43573BBC66FC}"/>
              </a:ext>
            </a:extLst>
          </p:cNvPr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11D48"/>
                </a:solidFill>
                <a:latin typeface="Arial"/>
              </a:defRPr>
            </a:pPr>
            <a:r>
              <a:rPr sz="1600" dirty="0"/>
              <a:t>Theme: Poor Visibility on Parking-Induced Congestion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u="sng" dirty="0"/>
              <a:t>Operational Challenge: </a:t>
            </a:r>
            <a:r>
              <a:rPr sz="1600" dirty="0"/>
              <a:t>On-street illegal parking and spillover parking near commercial zones, metro stations, and events choke intersections.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u="sng" dirty="0"/>
              <a:t>Why It's Hard Today: </a:t>
            </a:r>
            <a:r>
              <a:rPr sz="1600" dirty="0"/>
              <a:t>Enforcement is reactive; no </a:t>
            </a:r>
            <a:r>
              <a:rPr sz="1600" dirty="0" err="1"/>
              <a:t>heatmap</a:t>
            </a:r>
            <a:r>
              <a:rPr sz="1600" dirty="0"/>
              <a:t> correlates violations to real-time traffic gridlock; hard to prioritize zones.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u="sng" dirty="0"/>
              <a:t>Problem Statement Direction: </a:t>
            </a:r>
            <a:r>
              <a:rPr sz="1600" dirty="0"/>
              <a:t>How can AI detect illegal parking hotspots and quantify their impact to enable targeted enforcement?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u="sng" dirty="0"/>
              <a:t>Our Mission: </a:t>
            </a:r>
            <a:r>
              <a:rPr sz="1600" dirty="0"/>
              <a:t>Solve this visibility gap by transforming raw traffic logs into active, actionable geospatial dispatch routes.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732A1-40F7-B345-9AB7-50A06F94F91F}"/>
              </a:ext>
            </a:extLst>
          </p:cNvPr>
          <p:cNvSpPr txBox="1"/>
          <p:nvPr/>
        </p:nvSpPr>
        <p:spPr>
          <a:xfrm>
            <a:off x="6583680" y="1920240"/>
            <a:ext cx="4572000" cy="29905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874F0"/>
                </a:solidFill>
                <a:latin typeface="Arial"/>
              </a:defRPr>
            </a:pPr>
            <a:r>
              <a:rPr sz="1600" dirty="0"/>
              <a:t>Why It Matters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u="sng" dirty="0"/>
              <a:t>Economic Impact:</a:t>
            </a:r>
            <a:r>
              <a:rPr sz="1600" dirty="0"/>
              <a:t> Gridlock on key transport corridors delays logistic deliveries (e.g., Flipkart) causing substantial logistics overhead costs.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u="sng" dirty="0"/>
              <a:t>Environmental Impact: </a:t>
            </a:r>
            <a:r>
              <a:rPr sz="1600" dirty="0"/>
              <a:t>Trapped vehicles idling in congested grids elevate local carbon emissions.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u="sng" dirty="0"/>
              <a:t>Public Transit Bottlenecks: </a:t>
            </a:r>
            <a:r>
              <a:rPr sz="1600" dirty="0"/>
              <a:t>Unlawful double-parking completely blocks buses and emergency vehicle lanes.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u="sng" dirty="0"/>
              <a:t>Visibility Resolution: </a:t>
            </a:r>
            <a:r>
              <a:rPr sz="1600" dirty="0"/>
              <a:t>We assign localized severity scores to clear road bottlenecks before traffic delay cascades.</a:t>
            </a:r>
          </a:p>
        </p:txBody>
      </p:sp>
    </p:spTree>
    <p:extLst>
      <p:ext uri="{BB962C8B-B14F-4D97-AF65-F5344CB8AC3E}">
        <p14:creationId xmlns:p14="http://schemas.microsoft.com/office/powerpoint/2010/main" val="1786673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EC1CB6-683F-254F-A368-7E7E0BCF1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86593" cy="69112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2E5523-6067-A040-AD1B-8D81159C5064}"/>
              </a:ext>
            </a:extLst>
          </p:cNvPr>
          <p:cNvSpPr txBox="1"/>
          <p:nvPr/>
        </p:nvSpPr>
        <p:spPr>
          <a:xfrm>
            <a:off x="731520" y="73152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rPr u="sng" dirty="0">
                <a:solidFill>
                  <a:srgbClr val="FF0000"/>
                </a:solidFill>
              </a:rPr>
              <a:t>The Idea Behind the Solution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516D3B-C3BE-8D43-8587-C93CFA1F7611}"/>
              </a:ext>
            </a:extLst>
          </p:cNvPr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D47F6-B0A9-3043-850A-44CD673CC6CF}"/>
              </a:ext>
            </a:extLst>
          </p:cNvPr>
          <p:cNvSpPr txBox="1"/>
          <p:nvPr/>
        </p:nvSpPr>
        <p:spPr>
          <a:xfrm>
            <a:off x="1005840" y="1920240"/>
            <a:ext cx="4572000" cy="26930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874F0"/>
                </a:solidFill>
                <a:latin typeface="Arial"/>
              </a:defRPr>
            </a:pPr>
            <a:r>
              <a:rPr sz="1600" dirty="0"/>
              <a:t>The Core Intuition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Street congestion is not caused by parking volume alone, but by localized corridor bottlenecks.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Traditional enforcement operates on raw volume; our severity model focuses on the direct obstruction rating of each incident.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By focusing warden patrols on double-parked vehicles and high-traffic arterial bottlenecks, we clear gridlock where it has the maximum traffic-blocking impact.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2DE8B7-5212-054E-BA99-715A0CB79830}"/>
              </a:ext>
            </a:extLst>
          </p:cNvPr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5D302E-1FE1-304E-A2D2-DBF259CA99EE}"/>
              </a:ext>
            </a:extLst>
          </p:cNvPr>
          <p:cNvSpPr txBox="1"/>
          <p:nvPr/>
        </p:nvSpPr>
        <p:spPr>
          <a:xfrm>
            <a:off x="6583680" y="1920240"/>
            <a:ext cx="4572000" cy="2446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818CF8"/>
                </a:solidFill>
                <a:latin typeface="Arial"/>
              </a:defRPr>
            </a:pPr>
            <a:r>
              <a:rPr sz="1600" dirty="0"/>
              <a:t>Visualizing the Invisible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Our system layers historical traffic flow data over localized parking violation grids.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Coordinates are grouped into high-resolution spatial cells, showing exactly where illegal parking intersects peak transit corridors.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This overlays raw data to give dispatchers clear visibility into which grids are creating traffic choking cascades.</a:t>
            </a:r>
          </a:p>
        </p:txBody>
      </p:sp>
    </p:spTree>
    <p:extLst>
      <p:ext uri="{BB962C8B-B14F-4D97-AF65-F5344CB8AC3E}">
        <p14:creationId xmlns:p14="http://schemas.microsoft.com/office/powerpoint/2010/main" val="1406107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E8E9B1-8B03-AD44-BFC1-D5406B141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86593" cy="69112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341510-B9D7-8E42-B211-C1939EDAD47C}"/>
              </a:ext>
            </a:extLst>
          </p:cNvPr>
          <p:cNvSpPr txBox="1"/>
          <p:nvPr/>
        </p:nvSpPr>
        <p:spPr>
          <a:xfrm>
            <a:off x="731520" y="73152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rPr u="sng" dirty="0">
                <a:solidFill>
                  <a:srgbClr val="FF0000"/>
                </a:solidFill>
              </a:rPr>
              <a:t>Solution Statement &amp; Proposed Approach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22EA8D-A95A-1346-B126-B636CE4125F9}"/>
              </a:ext>
            </a:extLst>
          </p:cNvPr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0FEE7-E63F-624F-BB98-A5EEE3B87F65}"/>
              </a:ext>
            </a:extLst>
          </p:cNvPr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233E7-098F-094A-B255-1F63081EE261}"/>
              </a:ext>
            </a:extLst>
          </p:cNvPr>
          <p:cNvSpPr txBox="1"/>
          <p:nvPr/>
        </p:nvSpPr>
        <p:spPr>
          <a:xfrm>
            <a:off x="1005840" y="1920240"/>
            <a:ext cx="4572000" cy="2446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874F0"/>
                </a:solidFill>
                <a:latin typeface="Arial"/>
              </a:defRPr>
            </a:pPr>
            <a:r>
              <a:rPr sz="1600" dirty="0"/>
              <a:t>Solution Statement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u="sng" dirty="0"/>
              <a:t>We propose </a:t>
            </a:r>
            <a:r>
              <a:rPr sz="1600" b="1" u="sng" dirty="0" err="1"/>
              <a:t>VeloCity</a:t>
            </a:r>
            <a:r>
              <a:rPr sz="1600" b="1" u="sng" dirty="0"/>
              <a:t>: </a:t>
            </a:r>
            <a:r>
              <a:rPr sz="1600" dirty="0"/>
              <a:t>an automated dispatch support system that translates traffic logs into active, severity-weighted patrols.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Rather than scheduling uniform warden patrols, </a:t>
            </a:r>
            <a:r>
              <a:rPr sz="1600" dirty="0" err="1"/>
              <a:t>VeloCity</a:t>
            </a:r>
            <a:r>
              <a:rPr sz="1600" dirty="0"/>
              <a:t> scores road blockages dynamically, targeting hotspots on-demand.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This converts reactive municipal enforcement into an active, data-driven congestion clearance platform.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12979C-DC52-D549-A46C-FC7991E4C274}"/>
              </a:ext>
            </a:extLst>
          </p:cNvPr>
          <p:cNvSpPr txBox="1"/>
          <p:nvPr/>
        </p:nvSpPr>
        <p:spPr>
          <a:xfrm>
            <a:off x="6583680" y="1920240"/>
            <a:ext cx="4572000" cy="28469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  <a:latin typeface="Arial"/>
              </a:defRPr>
            </a:pPr>
            <a:r>
              <a:rPr sz="1600" dirty="0"/>
              <a:t>Proposed Approach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u="sng" dirty="0"/>
              <a:t>Phase 1:</a:t>
            </a:r>
            <a:r>
              <a:rPr sz="1600" dirty="0"/>
              <a:t> Ingestion &amp; </a:t>
            </a:r>
            <a:r>
              <a:rPr lang="en-US" sz="1600" dirty="0"/>
              <a:t>Time zone</a:t>
            </a:r>
            <a:r>
              <a:rPr sz="1600" dirty="0"/>
              <a:t> Re-alignment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lang="en-US" sz="1600" dirty="0"/>
              <a:t> 	</a:t>
            </a:r>
            <a:r>
              <a:rPr sz="1600" dirty="0"/>
              <a:t>- Cleans 298,450 records, converting UTC to IST to map daytime </a:t>
            </a:r>
            <a:r>
              <a:rPr lang="en-US" sz="1600" dirty="0"/>
              <a:t>	</a:t>
            </a:r>
            <a:r>
              <a:rPr sz="1600" dirty="0"/>
              <a:t>violation peaks.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u="sng" dirty="0"/>
              <a:t>Phase 2:</a:t>
            </a:r>
            <a:r>
              <a:rPr sz="1600" dirty="0"/>
              <a:t> Congestion Index Scoring &amp; Simulating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lang="en-US" sz="1600" dirty="0"/>
              <a:t>	</a:t>
            </a:r>
            <a:r>
              <a:rPr sz="1600" dirty="0"/>
              <a:t>- Computes localized grids severity dynamically using dispatcher </a:t>
            </a:r>
            <a:r>
              <a:rPr lang="en-US" sz="1600" dirty="0"/>
              <a:t>	</a:t>
            </a:r>
            <a:r>
              <a:rPr sz="1600" dirty="0"/>
              <a:t>sliders.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u="sng" dirty="0"/>
              <a:t>Phase 3: </a:t>
            </a:r>
            <a:r>
              <a:rPr sz="1600" dirty="0"/>
              <a:t>Greedy Pathfinder Dispatch</a:t>
            </a:r>
            <a:r>
              <a:rPr lang="en-US" sz="1600" dirty="0"/>
              <a:t>	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lang="en-US" sz="1600" dirty="0"/>
              <a:t>	</a:t>
            </a:r>
            <a:r>
              <a:rPr sz="1600" dirty="0"/>
              <a:t>- Executes nearest-neighbor routing algorithms in </a:t>
            </a:r>
            <a:r>
              <a:rPr lang="en-US" sz="1600" dirty="0"/>
              <a:t>	</a:t>
            </a:r>
            <a:r>
              <a:rPr sz="1600" dirty="0"/>
              <a:t>&lt;1ms to dispatch wardens.</a:t>
            </a:r>
          </a:p>
        </p:txBody>
      </p:sp>
    </p:spTree>
    <p:extLst>
      <p:ext uri="{BB962C8B-B14F-4D97-AF65-F5344CB8AC3E}">
        <p14:creationId xmlns:p14="http://schemas.microsoft.com/office/powerpoint/2010/main" val="2520346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F02612-7981-E44C-ADAF-A84A83BA8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86593" cy="69112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60D933-55D6-F645-B564-739A387D5FC5}"/>
              </a:ext>
            </a:extLst>
          </p:cNvPr>
          <p:cNvSpPr txBox="1"/>
          <p:nvPr/>
        </p:nvSpPr>
        <p:spPr>
          <a:xfrm>
            <a:off x="731520" y="73152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rPr u="sng" dirty="0">
                <a:solidFill>
                  <a:srgbClr val="FF0000"/>
                </a:solidFill>
              </a:rPr>
              <a:t>Technology Stack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BE30C8-C7DA-3E47-BDB5-1BD7DA25D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449312"/>
              </p:ext>
            </p:extLst>
          </p:nvPr>
        </p:nvGraphicFramePr>
        <p:xfrm>
          <a:off x="914400" y="1645920"/>
          <a:ext cx="103601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/>
                        <a:t>Layer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rPr dirty="0"/>
                        <a:t>Frontend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dirty="0"/>
                        <a:t>React + </a:t>
                      </a:r>
                      <a:r>
                        <a:rPr dirty="0" err="1"/>
                        <a:t>Vite</a:t>
                      </a:r>
                      <a:r>
                        <a:rPr dirty="0"/>
                        <a:t> + Leaflet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Provides a fast, component-based mapping UI with custom Leaflet markers, polyline routes, and slider panels.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dirty="0"/>
                        <a:t>Python (HTTP Base Server)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Zero-dependency, high-speed API server executing path optimization routing and spatial grid calculations.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Data/ML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dirty="0"/>
                        <a:t>SQLite Engine &amp; Custom Math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dirty="0"/>
                        <a:t>Stores 298,450 records, yielding sub-25ms aggregations via compound indexes and localized coordinate grouping.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Infra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Render (API) + GitHub 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dirty="0"/>
                        <a:t>Fully scalable, decoupled cloud environments with automated </a:t>
                      </a:r>
                      <a:r>
                        <a:rPr dirty="0" err="1"/>
                        <a:t>git</a:t>
                      </a:r>
                      <a:r>
                        <a:rPr dirty="0"/>
                        <a:t>-trigger deployments.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0428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8679DC-411A-AA49-8650-37EE5A349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86593" cy="69112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6F00C3-D3F6-AD41-955B-3B0928D273C2}"/>
              </a:ext>
            </a:extLst>
          </p:cNvPr>
          <p:cNvSpPr txBox="1"/>
          <p:nvPr/>
        </p:nvSpPr>
        <p:spPr>
          <a:xfrm>
            <a:off x="731520" y="73152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rPr u="sng" dirty="0">
                <a:solidFill>
                  <a:srgbClr val="FF0000"/>
                </a:solidFill>
              </a:rPr>
              <a:t>Key Algorithms &amp; Scaling Strategy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23CAB-E1F2-1B4C-9D00-C99F5EF7D05D}"/>
              </a:ext>
            </a:extLst>
          </p:cNvPr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752636-6A1C-004C-9726-5A74055C9574}"/>
              </a:ext>
            </a:extLst>
          </p:cNvPr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A772A5-3AA3-F04D-9925-CFD01A0D2987}"/>
              </a:ext>
            </a:extLst>
          </p:cNvPr>
          <p:cNvSpPr txBox="1"/>
          <p:nvPr/>
        </p:nvSpPr>
        <p:spPr>
          <a:xfrm>
            <a:off x="1005840" y="1920240"/>
            <a:ext cx="4572000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874F0"/>
                </a:solidFill>
                <a:latin typeface="Arial"/>
              </a:defRPr>
            </a:pPr>
            <a:r>
              <a:rPr sz="1300" dirty="0"/>
              <a:t>Algorithms &amp; Complexity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300" dirty="0"/>
              <a:t>• </a:t>
            </a:r>
            <a:r>
              <a:rPr sz="1300" b="1" u="sng" dirty="0"/>
              <a:t>Obstructiveness Severity scoring model: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300" dirty="0"/>
              <a:t>  - score = </a:t>
            </a:r>
            <a:r>
              <a:rPr sz="1300" dirty="0" err="1"/>
              <a:t>vehicle_weight</a:t>
            </a:r>
            <a:r>
              <a:rPr sz="1300" dirty="0"/>
              <a:t> x </a:t>
            </a:r>
            <a:r>
              <a:rPr lang="en-US" sz="1300" dirty="0" err="1"/>
              <a:t>violation_weight</a:t>
            </a:r>
            <a:r>
              <a:rPr sz="1300" dirty="0"/>
              <a:t> x </a:t>
            </a:r>
            <a:r>
              <a:rPr sz="1300" dirty="0" err="1"/>
              <a:t>peak_multiplier</a:t>
            </a:r>
            <a:r>
              <a:rPr sz="1300" dirty="0"/>
              <a:t>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300" dirty="0"/>
              <a:t>  - prioritizes large vehicles blocking main corridors during peak hours.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300" dirty="0"/>
              <a:t>• </a:t>
            </a:r>
            <a:r>
              <a:rPr sz="1300" b="1" u="sng" dirty="0"/>
              <a:t>Spatial Grid Density aggregation clustering: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lang="en-US" sz="1300" dirty="0"/>
              <a:t>    </a:t>
            </a:r>
            <a:r>
              <a:rPr sz="1300" dirty="0"/>
              <a:t>- rounds </a:t>
            </a:r>
            <a:r>
              <a:rPr lang="en-US" sz="1300" dirty="0"/>
              <a:t>cords</a:t>
            </a:r>
            <a:r>
              <a:rPr sz="1300" dirty="0"/>
              <a:t> to 3 decimal places to cluster into ~110m cells.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lang="en-US" sz="1300" dirty="0"/>
              <a:t>    </a:t>
            </a:r>
            <a:r>
              <a:rPr sz="1300" dirty="0"/>
              <a:t>- O(log N) </a:t>
            </a:r>
            <a:r>
              <a:rPr lang="en-US" sz="1300" dirty="0"/>
              <a:t>db.</a:t>
            </a:r>
            <a:r>
              <a:rPr sz="1300" dirty="0"/>
              <a:t> indexes search over 298,450 records in &lt;25ms.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300" dirty="0"/>
              <a:t>• </a:t>
            </a:r>
            <a:r>
              <a:rPr sz="1300" b="1" u="sng" dirty="0"/>
              <a:t>Greedy Nearest-Neighbor Pathfinder routing: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lang="en-US" sz="1300" dirty="0"/>
              <a:t>    </a:t>
            </a:r>
            <a:r>
              <a:rPr sz="1300" dirty="0"/>
              <a:t> - </a:t>
            </a:r>
            <a:r>
              <a:rPr lang="en-US" sz="1300" dirty="0"/>
              <a:t>S</a:t>
            </a:r>
            <a:r>
              <a:rPr sz="1300" dirty="0"/>
              <a:t>tarts at max congestion, sequentially pathing to nearest hotspot.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lang="en-US" sz="1300" dirty="0"/>
              <a:t>    </a:t>
            </a:r>
            <a:r>
              <a:rPr sz="1300" dirty="0"/>
              <a:t>- O(N^2) complexity with local path planning executed in &lt;1ms.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300" dirty="0"/>
              <a:t>• </a:t>
            </a:r>
            <a:r>
              <a:rPr lang="en-US" sz="1300" b="1" u="sng" dirty="0"/>
              <a:t>Time zone</a:t>
            </a:r>
            <a:r>
              <a:rPr sz="1300" b="1" u="sng" dirty="0"/>
              <a:t> Realignment &amp; Expectation forecaster: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lang="en-US" sz="1300" dirty="0"/>
              <a:t>     </a:t>
            </a:r>
            <a:r>
              <a:rPr sz="1300" dirty="0"/>
              <a:t>- Realignment of UTC logs to IST (+5.5h) to extract actual peaks.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lang="en-US" sz="1300" dirty="0"/>
              <a:t>     </a:t>
            </a:r>
            <a:r>
              <a:rPr sz="1300" dirty="0"/>
              <a:t>- Models hourly risk factors (0-100) from historical profiles.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1E3C1C-39D1-184D-8304-6D6DF71ACC42}"/>
              </a:ext>
            </a:extLst>
          </p:cNvPr>
          <p:cNvSpPr txBox="1"/>
          <p:nvPr/>
        </p:nvSpPr>
        <p:spPr>
          <a:xfrm>
            <a:off x="6583680" y="1920240"/>
            <a:ext cx="4572000" cy="29392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11D48"/>
                </a:solidFill>
                <a:latin typeface="Arial"/>
              </a:defRPr>
            </a:pPr>
            <a:r>
              <a:rPr sz="1600" dirty="0"/>
              <a:t>Scaling Strategy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u="sng" dirty="0"/>
              <a:t>Stateless Compute: </a:t>
            </a:r>
            <a:r>
              <a:rPr sz="1600" dirty="0"/>
              <a:t>Backend API is containerized (Docker) and stateless, allowing infinite horizontal scaling under load.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u="sng" dirty="0" err="1"/>
              <a:t>Serverless</a:t>
            </a:r>
            <a:r>
              <a:rPr sz="1600" b="1" u="sng" dirty="0"/>
              <a:t> Data Tier: </a:t>
            </a:r>
            <a:r>
              <a:rPr sz="1600" dirty="0"/>
              <a:t>Upgrading SQLite to Amazon Aurora </a:t>
            </a:r>
            <a:r>
              <a:rPr lang="en-US" sz="1600" dirty="0"/>
              <a:t>Server less</a:t>
            </a:r>
            <a:r>
              <a:rPr sz="1600" dirty="0"/>
              <a:t> provides scalable, auto-scaling relational storage.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u="sng" dirty="0"/>
              <a:t>Geospatial Clusters: </a:t>
            </a:r>
            <a:r>
              <a:rPr sz="1600" dirty="0"/>
              <a:t>For scaling to millions of live traffic camera feeds, spatial calculation is offloaded to a distributed cluster utilizing </a:t>
            </a:r>
            <a:r>
              <a:rPr sz="1600" dirty="0" err="1"/>
              <a:t>PostGIS</a:t>
            </a:r>
            <a:r>
              <a:rPr sz="1600" dirty="0"/>
              <a:t> and </a:t>
            </a:r>
            <a:r>
              <a:rPr sz="1600" dirty="0" err="1"/>
              <a:t>Redis</a:t>
            </a:r>
            <a:r>
              <a:rPr sz="1600" dirty="0"/>
              <a:t> Geospatial indexing.</a:t>
            </a:r>
          </a:p>
        </p:txBody>
      </p:sp>
    </p:spTree>
    <p:extLst>
      <p:ext uri="{BB962C8B-B14F-4D97-AF65-F5344CB8AC3E}">
        <p14:creationId xmlns:p14="http://schemas.microsoft.com/office/powerpoint/2010/main" val="1576932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C9D8F7-CAB0-BC43-93B0-B6D5D7427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86593" cy="69112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A62293-DFD4-7C4D-9B0E-6D1FB802597E}"/>
              </a:ext>
            </a:extLst>
          </p:cNvPr>
          <p:cNvSpPr txBox="1"/>
          <p:nvPr/>
        </p:nvSpPr>
        <p:spPr>
          <a:xfrm>
            <a:off x="731520" y="73152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rPr u="sng" dirty="0">
                <a:solidFill>
                  <a:srgbClr val="FF0000"/>
                </a:solidFill>
              </a:rPr>
              <a:t>User Workflow</a:t>
            </a:r>
            <a:r>
              <a:rPr lang="en-US" u="sng" dirty="0">
                <a:solidFill>
                  <a:srgbClr val="FF0000"/>
                </a:solidFill>
              </a:rPr>
              <a:t> &amp; Problem Solved </a:t>
            </a:r>
            <a:endParaRPr u="sng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F0A5C7-797B-3E4B-BC94-016057BABFA4}"/>
              </a:ext>
            </a:extLst>
          </p:cNvPr>
          <p:cNvSpPr/>
          <p:nvPr/>
        </p:nvSpPr>
        <p:spPr>
          <a:xfrm>
            <a:off x="731520" y="1554480"/>
            <a:ext cx="10725912" cy="201168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2E546A-29E6-F743-AAD2-480C51666532}"/>
              </a:ext>
            </a:extLst>
          </p:cNvPr>
          <p:cNvSpPr txBox="1"/>
          <p:nvPr/>
        </p:nvSpPr>
        <p:spPr>
          <a:xfrm>
            <a:off x="1005840" y="1828800"/>
            <a:ext cx="1017727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874F0"/>
                </a:solidFill>
                <a:latin typeface="Arial"/>
              </a:defRPr>
            </a:pPr>
            <a:r>
              <a:rPr dirty="0"/>
              <a:t>How the Prototype Solves the Problem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dirty="0"/>
              <a:t>• Provides Live Visibility: Translates thousands of traffic logs into color-coded maps, exposing localized risk grids.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dirty="0"/>
              <a:t>• Supports Dispatch Decision: Offers real-time path routing to guide officers to blockages efficiently.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dirty="0"/>
              <a:t>• Proactive Planning: Historically forecast trends show where gridlocks are likely, moving enforcement from reactive to proactive.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6ADD6D-A458-1A4A-ACF0-13F33FFC58C2}"/>
              </a:ext>
            </a:extLst>
          </p:cNvPr>
          <p:cNvSpPr txBox="1"/>
          <p:nvPr/>
        </p:nvSpPr>
        <p:spPr>
          <a:xfrm>
            <a:off x="731520" y="3749039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rPr dirty="0"/>
              <a:t>USER WORKFLOW SEQUENCE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22896D-B6F4-D64C-A102-A0714DC80036}"/>
              </a:ext>
            </a:extLst>
          </p:cNvPr>
          <p:cNvSpPr/>
          <p:nvPr/>
        </p:nvSpPr>
        <p:spPr>
          <a:xfrm>
            <a:off x="731520" y="4206240"/>
            <a:ext cx="1737360" cy="2103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EB89DB-CC6F-F447-9414-5462102FCB4A}"/>
              </a:ext>
            </a:extLst>
          </p:cNvPr>
          <p:cNvSpPr/>
          <p:nvPr/>
        </p:nvSpPr>
        <p:spPr>
          <a:xfrm>
            <a:off x="2971800" y="4206240"/>
            <a:ext cx="1737360" cy="2103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4FB646-0087-CC45-8CC0-4C041C40E99C}"/>
              </a:ext>
            </a:extLst>
          </p:cNvPr>
          <p:cNvSpPr/>
          <p:nvPr/>
        </p:nvSpPr>
        <p:spPr>
          <a:xfrm>
            <a:off x="5212080" y="4206240"/>
            <a:ext cx="1737360" cy="2103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353F58-5014-1E4E-A1CE-76CF525FAF5F}"/>
              </a:ext>
            </a:extLst>
          </p:cNvPr>
          <p:cNvSpPr/>
          <p:nvPr/>
        </p:nvSpPr>
        <p:spPr>
          <a:xfrm>
            <a:off x="7452360" y="4206240"/>
            <a:ext cx="1737360" cy="2103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06B3A6-C3FD-9247-B885-CD6A8D6310F0}"/>
              </a:ext>
            </a:extLst>
          </p:cNvPr>
          <p:cNvSpPr/>
          <p:nvPr/>
        </p:nvSpPr>
        <p:spPr>
          <a:xfrm>
            <a:off x="9692640" y="4206240"/>
            <a:ext cx="1737360" cy="2103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50B993-852E-754B-8B5B-58900DA100F5}"/>
              </a:ext>
            </a:extLst>
          </p:cNvPr>
          <p:cNvSpPr txBox="1"/>
          <p:nvPr/>
        </p:nvSpPr>
        <p:spPr>
          <a:xfrm>
            <a:off x="2592100" y="5074920"/>
            <a:ext cx="256480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Arial"/>
              </a:defRPr>
            </a:pPr>
            <a:r>
              <a:rPr lang="en-US" dirty="0"/>
              <a:t>➡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8A623C-98E5-A74B-9379-F5FC6AF41E8C}"/>
              </a:ext>
            </a:extLst>
          </p:cNvPr>
          <p:cNvSpPr txBox="1"/>
          <p:nvPr/>
        </p:nvSpPr>
        <p:spPr>
          <a:xfrm>
            <a:off x="822960" y="4297680"/>
            <a:ext cx="15544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2874F0"/>
                </a:solidFill>
                <a:latin typeface="Arial"/>
              </a:defRPr>
            </a:pPr>
            <a:r>
              <a:rPr dirty="0"/>
              <a:t>1. Ingest Data</a:t>
            </a:r>
          </a:p>
          <a:p>
            <a:pPr algn="ctr">
              <a:defRPr sz="1000">
                <a:solidFill>
                  <a:srgbClr val="0F172A"/>
                </a:solidFill>
                <a:latin typeface="Calibri"/>
              </a:defRPr>
            </a:pPr>
            <a:r>
              <a:rPr dirty="0"/>
              <a:t>Ingestion scripts clean and load traffic logs to DB.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24C5A0-E8D7-4E47-8564-872717C82FB8}"/>
              </a:ext>
            </a:extLst>
          </p:cNvPr>
          <p:cNvSpPr txBox="1"/>
          <p:nvPr/>
        </p:nvSpPr>
        <p:spPr>
          <a:xfrm>
            <a:off x="3063240" y="4297680"/>
            <a:ext cx="15544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2874F0"/>
                </a:solidFill>
                <a:latin typeface="Arial"/>
              </a:defRPr>
            </a:pPr>
            <a:r>
              <a:t>2. Visualize Map</a:t>
            </a:r>
          </a:p>
          <a:p>
            <a:pPr algn="ctr">
              <a:defRPr sz="1000">
                <a:solidFill>
                  <a:srgbClr val="0F172A"/>
                </a:solidFill>
                <a:latin typeface="Calibri"/>
              </a:defRPr>
            </a:pPr>
            <a:r>
              <a:t>Dispatcher loads map to inspect severity grid cells.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70AD05-95A2-9A4C-A0E2-F9FBA3C150CE}"/>
              </a:ext>
            </a:extLst>
          </p:cNvPr>
          <p:cNvSpPr txBox="1"/>
          <p:nvPr/>
        </p:nvSpPr>
        <p:spPr>
          <a:xfrm>
            <a:off x="5303520" y="4297680"/>
            <a:ext cx="15544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2874F0"/>
                </a:solidFill>
                <a:latin typeface="Arial"/>
              </a:defRPr>
            </a:pPr>
            <a:r>
              <a:t>3. Tune Weights</a:t>
            </a:r>
          </a:p>
          <a:p>
            <a:pPr algn="ctr">
              <a:defRPr sz="1000">
                <a:solidFill>
                  <a:srgbClr val="0F172A"/>
                </a:solidFill>
                <a:latin typeface="Calibri"/>
              </a:defRPr>
            </a:pPr>
            <a:r>
              <a:t>Alters sliders to shift vehicle &amp; severity parameters.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F6F7EB-D6E4-444F-838E-B453E423C51A}"/>
              </a:ext>
            </a:extLst>
          </p:cNvPr>
          <p:cNvSpPr txBox="1"/>
          <p:nvPr/>
        </p:nvSpPr>
        <p:spPr>
          <a:xfrm>
            <a:off x="7543800" y="4297680"/>
            <a:ext cx="15544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2874F0"/>
                </a:solidFill>
                <a:latin typeface="Arial"/>
              </a:defRPr>
            </a:pPr>
            <a:r>
              <a:t>4. Optimize Route</a:t>
            </a:r>
          </a:p>
          <a:p>
            <a:pPr algn="ctr">
              <a:defRPr sz="1000">
                <a:solidFill>
                  <a:srgbClr val="0F172A"/>
                </a:solidFill>
                <a:latin typeface="Calibri"/>
              </a:defRPr>
            </a:pPr>
            <a:r>
              <a:t>Pathfinder maps optimal routes sequentially in &lt;1ms.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38F028-FF45-EB47-9E8A-FB654395E896}"/>
              </a:ext>
            </a:extLst>
          </p:cNvPr>
          <p:cNvSpPr txBox="1"/>
          <p:nvPr/>
        </p:nvSpPr>
        <p:spPr>
          <a:xfrm>
            <a:off x="9784080" y="4297680"/>
            <a:ext cx="15544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2874F0"/>
                </a:solidFill>
                <a:latin typeface="Arial"/>
              </a:defRPr>
            </a:pPr>
            <a:r>
              <a:t>5. Dispatch warden</a:t>
            </a:r>
          </a:p>
          <a:p>
            <a:pPr algn="ctr">
              <a:defRPr sz="1000">
                <a:solidFill>
                  <a:srgbClr val="0F172A"/>
                </a:solidFill>
                <a:latin typeface="Calibri"/>
              </a:defRPr>
            </a:pPr>
            <a:r>
              <a:t>Officers navigate drawn polylines to clear blockages.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9EDB52-5D16-6343-B939-441C0F732F2C}"/>
              </a:ext>
            </a:extLst>
          </p:cNvPr>
          <p:cNvSpPr txBox="1"/>
          <p:nvPr/>
        </p:nvSpPr>
        <p:spPr>
          <a:xfrm>
            <a:off x="4832380" y="5074920"/>
            <a:ext cx="256480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Arial"/>
              </a:defRPr>
            </a:pPr>
            <a:r>
              <a:rPr lang="en-US" dirty="0"/>
              <a:t>➡</a:t>
            </a:r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70BC95-3DF4-8F4B-A866-A6333BD39B8C}"/>
              </a:ext>
            </a:extLst>
          </p:cNvPr>
          <p:cNvSpPr txBox="1"/>
          <p:nvPr/>
        </p:nvSpPr>
        <p:spPr>
          <a:xfrm>
            <a:off x="7084535" y="5074920"/>
            <a:ext cx="256480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Arial"/>
              </a:defRPr>
            </a:pPr>
            <a:r>
              <a:rPr lang="en-US" dirty="0"/>
              <a:t>➡</a:t>
            </a:r>
            <a:endParaRPr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50C696-BECD-5945-B7F8-5361D50AA68A}"/>
              </a:ext>
            </a:extLst>
          </p:cNvPr>
          <p:cNvSpPr txBox="1"/>
          <p:nvPr/>
        </p:nvSpPr>
        <p:spPr>
          <a:xfrm>
            <a:off x="9312940" y="5074920"/>
            <a:ext cx="256480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Arial"/>
              </a:defRPr>
            </a:pPr>
            <a:r>
              <a:rPr lang="en-US" dirty="0"/>
              <a:t>➡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3498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3FD7A8-E874-004E-904B-41DB4376F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86593" cy="69112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A255F7-5B9A-BD4B-94BB-CCD7448F7F99}"/>
              </a:ext>
            </a:extLst>
          </p:cNvPr>
          <p:cNvSpPr txBox="1"/>
          <p:nvPr/>
        </p:nvSpPr>
        <p:spPr>
          <a:xfrm>
            <a:off x="731520" y="73152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rPr u="sng" dirty="0">
                <a:solidFill>
                  <a:srgbClr val="FF0000"/>
                </a:solidFill>
              </a:rPr>
              <a:t>Future Vision, Roadmap &amp; Value Impact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2A47BC-6C1C-4E49-A600-A1F67824753F}"/>
              </a:ext>
            </a:extLst>
          </p:cNvPr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2FBD0E-4877-2F48-A230-1AE868A731A2}"/>
              </a:ext>
            </a:extLst>
          </p:cNvPr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BAB3A-1420-4246-BA59-E78D748AEB37}"/>
              </a:ext>
            </a:extLst>
          </p:cNvPr>
          <p:cNvSpPr txBox="1"/>
          <p:nvPr/>
        </p:nvSpPr>
        <p:spPr>
          <a:xfrm>
            <a:off x="1005840" y="1920240"/>
            <a:ext cx="4572000" cy="26930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874F0"/>
                </a:solidFill>
                <a:latin typeface="Arial"/>
              </a:defRPr>
            </a:pPr>
            <a:r>
              <a:rPr sz="1600" dirty="0"/>
              <a:t>Future Vision &amp; Value Impact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u="sng" dirty="0"/>
              <a:t>Municipal Asset: </a:t>
            </a:r>
            <a:r>
              <a:rPr sz="1600" dirty="0"/>
              <a:t>Integration with CCTV traffic cameras to automatically detect wrong-parked vehicles and flag them.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u="sng" dirty="0"/>
              <a:t>Logistics API Asset: </a:t>
            </a:r>
            <a:r>
              <a:rPr sz="1600" dirty="0"/>
              <a:t>Delivery networks (like Flipkart) query the API to find low-congestion zones and safe delivery parking slots.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u="sng" dirty="0"/>
              <a:t>Value Impact: </a:t>
            </a:r>
            <a:r>
              <a:rPr sz="1600" dirty="0"/>
              <a:t>Saves commuters and logistics wardens 3-5 hours per week by proactively clearing bottleneck lanes. Minimizes fuel waste.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43FCF8-7ECA-3A45-935D-E288116CE0F4}"/>
              </a:ext>
            </a:extLst>
          </p:cNvPr>
          <p:cNvSpPr txBox="1"/>
          <p:nvPr/>
        </p:nvSpPr>
        <p:spPr>
          <a:xfrm>
            <a:off x="6583680" y="1920240"/>
            <a:ext cx="4572000" cy="3123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11D48"/>
                </a:solidFill>
                <a:latin typeface="Arial"/>
              </a:defRPr>
            </a:pPr>
            <a:r>
              <a:rPr sz="1400" dirty="0"/>
              <a:t>Product Roadmap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• </a:t>
            </a:r>
            <a:r>
              <a:rPr sz="1400" b="1" u="sng" dirty="0"/>
              <a:t>0-3 Months: </a:t>
            </a:r>
            <a:r>
              <a:rPr sz="1400" dirty="0"/>
              <a:t>CCTV &amp; Lidar Integration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lang="en-US" sz="1400" dirty="0"/>
              <a:t>   </a:t>
            </a:r>
            <a:r>
              <a:rPr sz="1400" dirty="0"/>
              <a:t> - Connect smart city traffic cameras to auto-detect wrong-</a:t>
            </a:r>
            <a:r>
              <a:rPr lang="en-US" sz="1400" dirty="0"/>
              <a:t>      	</a:t>
            </a:r>
            <a:r>
              <a:rPr sz="1400" dirty="0"/>
              <a:t>parked vehicles.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lang="en-US" sz="1400" dirty="0"/>
              <a:t>    </a:t>
            </a:r>
            <a:r>
              <a:rPr sz="1400" dirty="0"/>
              <a:t> - Impact: 5,000+ auto-detections daily; 20% faster response.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• </a:t>
            </a:r>
            <a:r>
              <a:rPr sz="1400" b="1" u="sng" dirty="0"/>
              <a:t>3-6 Months: </a:t>
            </a:r>
            <a:r>
              <a:rPr sz="1400" dirty="0"/>
              <a:t>Mobile App &amp; Fleet Sync</a:t>
            </a:r>
            <a:endParaRPr lang="en-US" sz="1400" dirty="0"/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lang="en-US" sz="1400" dirty="0"/>
              <a:t>      - Warden navigation app. Deploy towing fleet size matching.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lang="en-US" sz="1400" dirty="0"/>
              <a:t>      </a:t>
            </a:r>
            <a:r>
              <a:rPr sz="1400" dirty="0"/>
              <a:t>- Impact: 50k+ wardens synced; 30% faster grid clearing.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• </a:t>
            </a:r>
            <a:r>
              <a:rPr sz="1400" b="1" u="sng" dirty="0"/>
              <a:t>6-12 Months:</a:t>
            </a:r>
            <a:r>
              <a:rPr sz="1400" dirty="0"/>
              <a:t> B2B Delivery Logistics API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lang="en-US" sz="1400" dirty="0"/>
              <a:t>       </a:t>
            </a:r>
            <a:r>
              <a:rPr sz="1400" dirty="0"/>
              <a:t>- Launch </a:t>
            </a:r>
            <a:r>
              <a:rPr sz="1400" dirty="0" err="1"/>
              <a:t>VeloCity</a:t>
            </a:r>
            <a:r>
              <a:rPr sz="1400" dirty="0"/>
              <a:t> API for delivery fleets (e.g. Flipkart).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lang="en-US" sz="1400" dirty="0"/>
              <a:t>      </a:t>
            </a:r>
            <a:r>
              <a:rPr sz="1400" dirty="0"/>
              <a:t> - Impact: 10+ partners; 200k+ runs optimized; SaaS </a:t>
            </a:r>
            <a:r>
              <a:rPr lang="en-US" sz="1400" dirty="0"/>
              <a:t>	</a:t>
            </a:r>
            <a:r>
              <a:rPr sz="1400" dirty="0"/>
              <a:t>revenue.</a:t>
            </a:r>
          </a:p>
        </p:txBody>
      </p:sp>
    </p:spTree>
    <p:extLst>
      <p:ext uri="{BB962C8B-B14F-4D97-AF65-F5344CB8AC3E}">
        <p14:creationId xmlns:p14="http://schemas.microsoft.com/office/powerpoint/2010/main" val="53895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21B18E-08A3-F745-9042-51B025FC9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86593" cy="69112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8C95FA-CC85-0F46-ACCD-B0426C7789EA}"/>
              </a:ext>
            </a:extLst>
          </p:cNvPr>
          <p:cNvSpPr txBox="1"/>
          <p:nvPr/>
        </p:nvSpPr>
        <p:spPr>
          <a:xfrm>
            <a:off x="584375" y="857644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rPr u="sng" dirty="0">
                <a:solidFill>
                  <a:srgbClr val="FF0000"/>
                </a:solidFill>
              </a:rPr>
              <a:t>Deployment &amp; Live Prototypes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6287AC-BCB1-1F49-9DCE-2F0801514627}"/>
              </a:ext>
            </a:extLst>
          </p:cNvPr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120ABA-5BB8-8B4F-B493-15C9BB5D943D}"/>
              </a:ext>
            </a:extLst>
          </p:cNvPr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BE7C9A-ABF6-4944-A250-AEC0AB518088}"/>
              </a:ext>
            </a:extLst>
          </p:cNvPr>
          <p:cNvSpPr txBox="1"/>
          <p:nvPr/>
        </p:nvSpPr>
        <p:spPr>
          <a:xfrm>
            <a:off x="1005840" y="1920240"/>
            <a:ext cx="4572000" cy="27699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2D3EE"/>
                </a:solidFill>
                <a:latin typeface="Arial"/>
              </a:defRPr>
            </a:pPr>
            <a:r>
              <a:rPr sz="1600" dirty="0">
                <a:solidFill>
                  <a:srgbClr val="7030A0"/>
                </a:solidFill>
              </a:rPr>
              <a:t>Deployment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Render Cloud (Backend): Standalone Python server deployed live. Auto-compiles the split dataset parts on startup, bypassing GitHub's 100MB file limit.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GitHub Pages (Frontend): Deployed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server less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frontend bundle. Points to the live Render backend API for dynamic data.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Seamless Local Execution: Local launcher included (`python3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server.py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`) to run backend and frontend as a single compiled local unit.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BFB2CB-2193-8E4B-84B2-99D01F9F9EDA}"/>
              </a:ext>
            </a:extLst>
          </p:cNvPr>
          <p:cNvSpPr txBox="1"/>
          <p:nvPr/>
        </p:nvSpPr>
        <p:spPr>
          <a:xfrm>
            <a:off x="6435484" y="1995732"/>
            <a:ext cx="4847372" cy="31085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Arial"/>
              </a:defRPr>
            </a:pPr>
            <a:r>
              <a:rPr sz="1600" dirty="0">
                <a:solidFill>
                  <a:srgbClr val="FF0000"/>
                </a:solidFill>
              </a:rPr>
              <a:t>Links for Hackathon Reviewers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</a:t>
            </a:r>
            <a:r>
              <a:rPr lang="en-US" sz="16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Live Dashboard URL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https://sb01022006.github.io/ai-parking-congestion-intelligence/</a:t>
            </a:r>
            <a:b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</a:t>
            </a:r>
            <a:r>
              <a:rPr lang="en-US" sz="16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Live Render API Server URL: 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https://ai-parking-congestion-intelligence.onrender.com</a:t>
            </a:r>
            <a:b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</a:t>
            </a:r>
            <a:r>
              <a:rPr lang="en-US" sz="16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GitHub Repository: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hlinkClick r:id="rId5"/>
              </a:rPr>
              <a:t>https://github.com/sb01022006/ai-parking-congestion-intelligence</a:t>
            </a:r>
            <a:b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lang="en-US" sz="16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Demo Video URL: </a:t>
            </a:r>
            <a:r>
              <a:rPr lang="en-US" sz="1600" b="1" u="sng" dirty="0">
                <a:solidFill>
                  <a:schemeClr val="tx1">
                    <a:lumMod val="95000"/>
                    <a:lumOff val="5000"/>
                  </a:schemeClr>
                </a:solidFill>
                <a:hlinkClick r:id="rId6"/>
              </a:rPr>
              <a:t>https://drive.google.com/file/d/1BrF4HMsvkTWnxRqcdl6Lb8lGopAEfH8V/view</a:t>
            </a:r>
            <a:b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sz="16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Prototype Verification: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Fully tested and operational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on Chrome, Safari, and Firefox.</a:t>
            </a:r>
          </a:p>
        </p:txBody>
      </p:sp>
    </p:spTree>
    <p:extLst>
      <p:ext uri="{BB962C8B-B14F-4D97-AF65-F5344CB8AC3E}">
        <p14:creationId xmlns:p14="http://schemas.microsoft.com/office/powerpoint/2010/main" val="3218283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6E7519-A806-3045-8EE7-4840A5449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874400-1F88-C54C-9A24-C2C11CA46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171" y="679668"/>
            <a:ext cx="8437010" cy="25286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8A7A23-F3A6-7340-8E49-A04FB8CC1D87}"/>
              </a:ext>
            </a:extLst>
          </p:cNvPr>
          <p:cNvSpPr txBox="1"/>
          <p:nvPr/>
        </p:nvSpPr>
        <p:spPr>
          <a:xfrm>
            <a:off x="3878317" y="3429000"/>
            <a:ext cx="538480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0" b="1" i="1" dirty="0">
                <a:solidFill>
                  <a:srgbClr val="FF0000"/>
                </a:solidFill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111398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1254</Words>
  <Application>Microsoft Macintosh PowerPoint</Application>
  <PresentationFormat>Widescreen</PresentationFormat>
  <Paragraphs>138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18</cp:revision>
  <dcterms:created xsi:type="dcterms:W3CDTF">2013-01-27T09:14:16Z</dcterms:created>
  <dcterms:modified xsi:type="dcterms:W3CDTF">2026-06-20T20:03:18Z</dcterms:modified>
  <cp:category/>
</cp:coreProperties>
</file>